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整节课的导入页，重点不是展开细节，而是帮助学生先建立学习地图。讲解时可以先说明，数据库范式并不是为了增加设计难度，而是为了让表结构更清晰、数据更一致、后期维护更方便。接着带学生快速浏览本课件的主线：先认识范式的作用，再理解函数依赖和常见异常，然后依次学习第一范式、第二范式和第三范式，最后总结规范化设计步骤与实际使用中的注意点，为后续内容做好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说明一个核心问题：为什么数据库设计需要范式。上课时可以先从生活化例子切入，比如学生、课程、班级信息都放在一张表里，同一条信息会被重复记录很多次，这就是数据冗余。接着指出冗余带来的后果：新增时可能缺少必要信息，删除时可能把本不该删的数据一起删掉，修改时又要改很多地方，稍不注意就会不一致。然后总结出范式的意义：它不是为了增加设计难度，而是为了让相同事实尽量只保存一次，使结构更清楚、维护成本更低，也更容易保证数据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做概念铺垫。讲数据库范式时，不能直接背定义，要先说明为什么需要范式。第一个关键概念是函数依赖，也就是一个属性能不能唯一确定另一个属性。第二个关键概念是数据异常，常见有修改异常、删除异常和插入异常。可以提示学生：如果一张表里同样的信息反复出现，就容易改错、删错或难以录入。理解这两个问题后，后面学习第一范式、第二范式和第三范式就更容易把握核心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数据库的第一范式，也就是1NF。它强调表中每个字段都必须保持原子性，简单理解就是一格只能放一个值，不能把多个内容塞进同一个单元格。比如学生选课表中，如果课程列写成“数据库、操作系统”，就不符合第一范式，因为一个字段里放了两门课。这样的设计会让查询、统计、修改都变得不方便。正确做法是把这两门课拆成两条独立记录，保证数据结构清晰，也为后续学习更高范式打下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第二范式。首先强调，它必须建立在第一范式已经满足的基础上。第二范式主要解决的是部分依赖问题，尤其是在主键由多个字段组成时更容易出现。判断方法是看非主属性是否依赖整个主键。如果它只依赖联合主键中的一部分，就不符合第二范式。以选课表为例，学号和课程号共同确定一条选课记录，但学生姓名实际上只和学号有关，所以这是典型的部分依赖。处理方法是拆表，把学生基本信息放入学生表，把选课关系保留在选课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第三范式，也就是3NF。理解它的关键，是在第二范式已经成立的前提下，继续检查非主属性之间有没有“拐弯依赖”。如果一个字段不是直接由主键决定，而是先由另一个非主属性间接决定，那么就属于传递依赖。比如学生表里，学号可以确定系号，系号又可以确定系名，所以系名其实不是直接依赖学号。这样设计会造成系名重复存储，一旦院系名称变化，就要修改多条记录，容易产生更新异常。规范做法是把院系信息拆成独立的院系表，使学生表只保留必要的外键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说明数据库规范化在课堂中的常用分析步骤。讲解时可先告诉学生，规范化不是直接拆表，而是先理解数据结构。第一步要找出候选键或主键，因为只有先确定唯一标识，才能判断其他属性依赖谁。第二步分析依赖关系，尤其要区分部分依赖和传递依赖，这是判断是否需要继续规范化的关键。第三步再根据分析结果决定如何拆表，把不同主题的数据分开存放。最后提醒学生，规范化后的目标是减少冗余、避免插入删除更新异常，并让表结构更清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作为课堂总结来讲。先提醒学生，学习范式不是为了把表拆得越多越专业，而是为了减少数据冗余、避免插入删除更新异常、提升一致性。接着指出，过度规范化会让表之间关系变复杂，查询时需要更多连接，可能影响开发和性能。最后总结数据库设计没有唯一标准答案，要结合业务需求、数据规模、访问方式和性能目标，在规范性与实用性之间做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9812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5e26012a-52f3-4e82-892f-1d77cba9d6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3933825"/>
            <a:ext cx="50292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1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181350"/>
            <a:ext cx="4953744" cy="5048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概览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：介绍数据库范式的作用、函数依赖与异常问题，以及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第一、第二、第三范式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和规范化步骤。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90725"/>
            <a:ext cx="2241798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数据库范式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8925" y="419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48525" y="4438650"/>
            <a:ext cx="915144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2026-06-15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525" y="4171950"/>
            <a:ext cx="552450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AI 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2034" y="4305300"/>
            <a:ext cx="250031" cy="228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A助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05125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5e26012a-52f3-4e82-892f-1d77cba9d6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2362200"/>
            <a:ext cx="446439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为什么需要数据库范式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552825"/>
            <a:ext cx="4953446" cy="5048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数据库范式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用于减少冗余，避免插入、删除、更新异常，让表结构更清晰，维护更方便，一致性更容易保证。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27660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fb1194d-639d-4cd4-870d-5e120a0bc9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"/>
            <a:ext cx="5798046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范式学习的基础：依赖与异常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16943"/>
            <a:ext cx="4953744" cy="51673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学习数据库范式前，先理解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函数依赖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与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数据异常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，它们解释了为什么要对关系模式进行规范化设计。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4498181"/>
            <a:ext cx="393099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设计不合理会产生修改、删除、插入异常，说明数据存在冗余与结构问题。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5450681"/>
            <a:ext cx="393099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先掌握依赖与异常，才能进一步理解各级范式如何减少冗余并提升一致性。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3545681"/>
            <a:ext cx="3882925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若属性A能唯一确定属性B，则称B函数依赖于A，这是分析表结构的基础。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059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40124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4964906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400" y="3059906"/>
            <a:ext cx="611832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函数依赖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4012406"/>
            <a:ext cx="611832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数据异常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4964906"/>
            <a:ext cx="611832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学习意义</a:t>
            </a:r>
          </a:p>
        </p:txBody>
      </p:sp>
      <p:pic>
        <p:nvPicPr>
          <p:cNvPr id="14" name="Picture 13" descr="3ac18ea3-d7ae-436a-be37-28b1b8a893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6b3e4863-692c-4892-8239-6f7ad1c756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177033"/>
            <a:ext cx="228600" cy="228600"/>
          </a:xfrm>
          <a:prstGeom prst="rect">
            <a:avLst/>
          </a:prstGeom>
        </p:spPr>
      </p:pic>
      <p:pic>
        <p:nvPicPr>
          <p:cNvPr id="16" name="Picture 15" descr="3136983b-8a4f-480e-857c-da40149e44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29533"/>
            <a:ext cx="228600" cy="228600"/>
          </a:xfrm>
          <a:prstGeom prst="rect">
            <a:avLst/>
          </a:prstGeom>
        </p:spPr>
      </p:pic>
      <p:pic>
        <p:nvPicPr>
          <p:cNvPr id="17" name="Picture 16" descr="9418b4b0-20cc-40af-bb8d-3f9238694e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082033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402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3553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307806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725e51b3-888b-43a3-8f21-4fc2533bff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5e26012a-52f3-4e82-892f-1d77cba9d6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2495550"/>
            <a:ext cx="2849612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第一范式（1NF）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686175"/>
            <a:ext cx="5047208" cy="2381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要求：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每个字段必须是</a:t>
            </a:r>
            <a:r>
              <a:rPr i="0" sz="1350" b="1">
                <a:solidFill>
                  <a:srgbClr val="4B5563"/>
                </a:solidFill>
                <a:latin typeface="Poppins"/>
              </a:rPr>
              <a:t>原子值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，一个单元格只存一项。课程若写成“数据库、操作系统”，应拆成多条记录。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40995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96d11e-5cb4-420b-aa6d-4ce1305877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pic>
        <p:nvPicPr>
          <p:cNvPr id="3" name="Picture 2" descr="dc5ba6f9-a3d5-458a-90ca-07bb9f146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42900"/>
            <a:ext cx="2961084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第二范式（2NF）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4548" y="3095625"/>
            <a:ext cx="4523779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在满足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第一范式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的前提下，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非主属性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必须完全依赖整个主键，不能只依赖联合主键的一部分。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0096" y="3095625"/>
            <a:ext cx="4405163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若主键是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联合主键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，某字段只依赖其中一部分，就形成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部分依赖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，因此不符合第二范式。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174" y="4391025"/>
            <a:ext cx="3933676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如选课表主键是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学号+课程号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，学生姓名只依赖学号，应拆分学生表与选课表。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86200"/>
            <a:ext cx="593824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57834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548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概念要求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问题表现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174" y="39528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典型例子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90800"/>
            <a:ext cx="48919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5131bc-169f-4519-a159-b98873627b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pic>
        <p:nvPicPr>
          <p:cNvPr id="3" name="Picture 2" descr="dc5ba6f9-a3d5-458a-90ca-07bb9f146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42900"/>
            <a:ext cx="2980580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第三范式（3NF）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9174" y="4143375"/>
            <a:ext cx="4286547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应将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院系信息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单独拆分为独立表，减少重复存储，并避免更新异常与数据不一致问题。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4548" y="3095625"/>
            <a:ext cx="4405312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在满足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第二范式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的基础上，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非主属性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之间不能存在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传递依赖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，属性应直接依赖主键。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0096" y="3095625"/>
            <a:ext cx="4168229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如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学号决定系号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系号又决定系名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，则</a:t>
            </a:r>
            <a:r>
              <a:rPr i="0" sz="1200" b="1">
                <a:solidFill>
                  <a:srgbClr val="4B5563"/>
                </a:solidFill>
                <a:latin typeface="Poppins"/>
              </a:rPr>
              <a:t>系名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并不直接依赖学号，存在传递依赖。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38550"/>
            <a:ext cx="593824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57834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548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概念要求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265747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典型示例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174" y="3705225"/>
            <a:ext cx="730299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规范做法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90800"/>
            <a:ext cx="48919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5131bc-169f-4519-a159-b98873627b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pic>
        <p:nvPicPr>
          <p:cNvPr id="3" name="Picture 2" descr="dc5ba6f9-a3d5-458a-90ca-07bb9f146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42900"/>
            <a:ext cx="446439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规范化的课堂步骤示例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4548" y="3095625"/>
            <a:ext cx="4405163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先确定候选键或主键，明确哪些属性能唯一标识一条记录，这是后续规范化分析的起点。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0096" y="3095625"/>
            <a:ext cx="4405163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分析属性对主键的依赖关系，重点识别部分依赖与传递依赖，判断当前表是否存在结构问题。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174" y="4391025"/>
            <a:ext cx="4405163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依据依赖关系决定拆表方式，把原始大表分解为职责更清晰、结构更合理的多张表。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0096" y="2657475"/>
            <a:ext cx="1263848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第二步：查依赖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9174" y="3952875"/>
            <a:ext cx="1263848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第三步：拆分表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548" y="2657475"/>
            <a:ext cx="1085998" cy="3143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6667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第一步：找键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86200"/>
            <a:ext cx="593824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590800"/>
            <a:ext cx="57834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590800"/>
            <a:ext cx="48919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fb1194d-639d-4cd4-870d-5e120a0bc9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"/>
            <a:ext cx="4019847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应用范式时的注意点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356246"/>
            <a:ext cx="4056012" cy="2381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1">
                <a:solidFill>
                  <a:srgbClr val="4B5563"/>
                </a:solidFill>
                <a:latin typeface="Poppins"/>
              </a:rPr>
              <a:t>范式设计要追求平衡。</a:t>
            </a:r>
            <a:r>
              <a:rPr i="0" sz="1350" b="0">
                <a:solidFill>
                  <a:srgbClr val="4B5563"/>
                </a:solidFill>
                <a:latin typeface="Poppins"/>
              </a:rPr>
              <a:t> 规范化能减少冗余、保证一致性，但过度拆分会提升查询与维护成本。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4358878"/>
            <a:ext cx="4405163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规范化后虽然结构更清晰，但多表关联可能变多，需同时考虑查询效率与使用场景。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5311378"/>
            <a:ext cx="4286547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教学中应强调根据数据规范、业务需求和系统性能综合判断，选择合适范式层级。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3406378"/>
            <a:ext cx="3812381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1">
                <a:solidFill>
                  <a:srgbClr val="4B5563"/>
                </a:solidFill>
                <a:latin typeface="Poppins"/>
              </a:rPr>
              <a:t>范式目标</a:t>
            </a:r>
            <a:r>
              <a:rPr i="0" sz="1200" b="0">
                <a:solidFill>
                  <a:srgbClr val="4B5563"/>
                </a:solidFill>
                <a:latin typeface="Poppins"/>
              </a:rPr>
              <a:t>是减少冗余和异常，不是把表无限拆分，设计要服务实际业务。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3873103"/>
            <a:ext cx="1056382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兼顾业务与性能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4825603"/>
            <a:ext cx="1056382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按场景选择方案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2920603"/>
            <a:ext cx="90814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不是越细越好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0603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873103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4825603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3ac18ea3-d7ae-436a-be37-28b1b8a893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5bdb1cbb-7a28-4aa3-8022-e5d75c2e03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037730"/>
            <a:ext cx="228600" cy="228600"/>
          </a:xfrm>
          <a:prstGeom prst="rect">
            <a:avLst/>
          </a:prstGeom>
        </p:spPr>
      </p:pic>
      <p:pic>
        <p:nvPicPr>
          <p:cNvPr id="16" name="Picture 15" descr="55f28eb4-67de-4abc-9d55-e8252aad36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3990230"/>
            <a:ext cx="228600" cy="228600"/>
          </a:xfrm>
          <a:prstGeom prst="rect">
            <a:avLst/>
          </a:prstGeom>
        </p:spPr>
      </p:pic>
      <p:pic>
        <p:nvPicPr>
          <p:cNvPr id="17" name="Picture 16" descr="9b5c2f51-3e49-4b7f-a801-75d337bee3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942730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263503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216003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168503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725e51b3-888b-43a3-8f21-4fc2533bff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