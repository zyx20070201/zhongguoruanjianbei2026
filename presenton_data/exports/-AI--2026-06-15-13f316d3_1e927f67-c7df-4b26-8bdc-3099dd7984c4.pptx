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作为课程导入页，先向同学说明本节课的学习目标：理解什么是堆、最大堆满足什么性质、为什么堆排序可以做到原地排序，以及它的整体执行流程。接着简要介绍后续结构，包括先讲概念，再讲建堆，再演示排序过程，随后用具体数组举例，并结合代码分析关键步骤，最后总结时间复杂度、空间复杂度和实现中的常见易错点。请提醒同学本节重点不是死记代码，而是理解每一步为什么这样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先帮助学生建立整体认识。堆排序的核心不是直接比较相邻元素，而是先借助堆这种特殊结构管理数据。讲解时要强调，升序排序一般使用最大堆，因为最大值会始终位于堆顶，便于每一轮取出。可以先说明算法只有两个主阶段：第一，把原数组原地调整成最大堆；第二，把堆顶元素与当前末尾交换，并缩小堆的范围，再继续调整。提醒学生，后面会通过具体数组和代码一步步看到这个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这一页重点讲清楚为什么堆虽然本质上是树，却常常不用真的画成树来存。讲解时先指出，堆是一棵完全二叉树，而完全二叉树最适合按层次顺序放进数组。接着带学生看公式：当前节点下标是 i，左孩子是 2i+1，右孩子是 2i+2，父节点是 (i-1)/2 向下取整。可以顺带举一个小下标例子，例如 i=2 时，左右孩子分别是 5 和 6。最后强调，这种结构正是堆排序能够原地完成、空间开销小的重要原因。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这一页讲堆排序的第一步，也就是建立最大堆。我们用数组[4, 10, 3, 5, 1]来演示。先提醒学生，最大堆不是整体有序，而是每个父节点都要大于等于子节点。建堆时要从最后一个非叶子节点开始向前调整，本例中下标1对应元素10，它的两个孩子是5和1，因为10已经最大，所以不需要交换。接着看下标0对应元素4，它的孩子是10和3，应先和较大的10交换，数组变成[10, 4, 3, 5, 1]。交换后4还要继续向下比较，与孩子5再交换，最终得到[10, 5, 3, 4, 1]。这时最大堆建立完成。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重点讲堆排序的第二步，也就是如何反复把当前最大值放到数组末尾。先提醒学生，最大堆的堆顶一定是当前范围内最大的元素，所以每轮都先交换堆顶和当前末尾。交换后，末尾元素就已经排好，不再参与后续比较。接着只对剩余未排序部分重新堆化。要特别强调：每轮有序区扩大一位，堆的有效范围缩小一位，直到所有元素都归位，数组就变成升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这一页重点带学生顺着一个完整例子看堆排序是怎样一步步完成的。先指出初始数组是 [4, 10, 3, 5, 1]，建成大顶堆后变成 [10, 5, 3, 4, 1]，说明此时 10 已经来到堆顶。接着强调每一轮都做两件事：先交换堆顶和当前末尾，再对剩余未排序部分做下沉调整。第1轮确定 10，第2轮确定 5，第3轮继续缩小堆范围，第4轮结束后得到 [1, 3, 4, 5, 10]。讲解时可反复提醒学生：堆排序不是一次排好，而是每轮固定一个最大值。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重点讲代码和前面流程图之间的对应关系。先看heapify：传入数组、堆大小n和当前根结点i，分别计算左右孩子下标l和r，再找出三者中最大的元素位置largest。如果最大值不是根结点，就交换，并递归调整被影响的子树。再看heap_sort：第一层循环从最后一个非叶子结点开始向前遍历，作用是把整个数组建成大顶堆；第二层循环每次把堆顶最大值放到数组末尾，然后把堆的有效范围缩小，再对根结点执行heapify。要提醒学生，这里使用的是0下标，所以左右孩子公式分别是2*i+1和2*i+2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这一页总结堆排序的性能与实现风险。先强调两个核心结论：总体时间复杂度是 O(n log n)，空间复杂度是 O(1)。这里要提醒学生，建堆并不是 O(n log n)，而是 O(n)，真正反复执行的是取堆顶后再下沉调整。接着说明堆排序不稳定，如果题目要求保持相同元素原有顺序，就不适合直接使用。最后讲实现时最容易出错的地方：堆的有效长度会不断缩小，下标计算也要统一，尤其是左右孩子位置和边界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38200" y="1981200"/>
            <a:ext cx="48768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a779051d-237d-4930-888f-27ec09200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81200"/>
            <a:ext cx="4876800" cy="304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00800" y="3933825"/>
            <a:ext cx="5029200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19050" dir="5400000" dist="9525" rotWithShape="0">
              <a:srgbClr val="000000">
                <a:alpha val="51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3181350"/>
            <a:ext cx="4953744" cy="5048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4B5563"/>
                </a:solidFill>
                <a:latin typeface="Poppins"/>
              </a:defRPr>
            </a:pPr>
            <a:r>
              <a:rPr i="0" sz="1350" b="0">
                <a:solidFill>
                  <a:srgbClr val="4B5563"/>
                </a:solidFill>
                <a:latin typeface="Poppins"/>
              </a:rPr>
              <a:t>本课件按概念、建堆、排序、示例、代码与复杂度展开，帮助你一步步理解</a:t>
            </a:r>
            <a:r>
              <a:rPr i="0" sz="1350" b="1">
                <a:solidFill>
                  <a:srgbClr val="4B5563"/>
                </a:solidFill>
                <a:latin typeface="Poppins"/>
              </a:rPr>
              <a:t>堆排序</a:t>
            </a:r>
            <a:r>
              <a:rPr i="0" sz="1350" b="0">
                <a:solidFill>
                  <a:srgbClr val="4B5563"/>
                </a:solidFill>
                <a:latin typeface="Poppins"/>
              </a:rPr>
              <a:t>的核心思想与实现过程。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90725"/>
            <a:ext cx="3130897" cy="800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堆排序算法详解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8925" y="4191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48525" y="4438650"/>
            <a:ext cx="915144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2026-06-15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8525" y="4171950"/>
            <a:ext cx="552450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1">
                <a:solidFill>
                  <a:srgbClr val="111827"/>
                </a:solidFill>
                <a:latin typeface="Poppins"/>
              </a:defRPr>
            </a:pPr>
            <a:r>
              <a:rPr i="0" sz="1500" b="1">
                <a:solidFill>
                  <a:srgbClr val="111827"/>
                </a:solidFill>
                <a:latin typeface="Poppins"/>
              </a:rPr>
              <a:t>AI 助手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2034" y="4305300"/>
            <a:ext cx="250031" cy="2286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i="0" sz="1200" b="1">
                <a:solidFill>
                  <a:srgbClr val="FFFFFF"/>
                </a:solidFill>
                <a:latin typeface="Poppins"/>
              </a:defRPr>
            </a:pPr>
            <a:r>
              <a:rPr i="0" sz="1200" b="1">
                <a:solidFill>
                  <a:srgbClr val="FFFFFF"/>
                </a:solidFill>
                <a:latin typeface="Poppins"/>
              </a:rPr>
              <a:t>A助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905125"/>
            <a:ext cx="762000" cy="3810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38200" y="1752600"/>
            <a:ext cx="48768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a779051d-237d-4930-888f-27ec09200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52600"/>
            <a:ext cx="4876800" cy="30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3552825"/>
            <a:ext cx="4954190" cy="5048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4B5563"/>
                </a:solidFill>
                <a:latin typeface="Poppins"/>
              </a:defRPr>
            </a:pPr>
            <a:r>
              <a:rPr i="0" sz="1350" b="1">
                <a:solidFill>
                  <a:srgbClr val="4B5563"/>
                </a:solidFill>
                <a:latin typeface="Poppins"/>
              </a:rPr>
              <a:t>堆排序</a:t>
            </a:r>
            <a:r>
              <a:rPr i="0" sz="1350" b="0">
                <a:solidFill>
                  <a:srgbClr val="4B5563"/>
                </a:solidFill>
                <a:latin typeface="Poppins"/>
              </a:rPr>
              <a:t>是基于</a:t>
            </a:r>
            <a:r>
              <a:rPr i="0" sz="1350" b="1">
                <a:solidFill>
                  <a:srgbClr val="4B5563"/>
                </a:solidFill>
                <a:latin typeface="Poppins"/>
              </a:rPr>
              <a:t>堆结构</a:t>
            </a:r>
            <a:r>
              <a:rPr i="0" sz="1350" b="0">
                <a:solidFill>
                  <a:srgbClr val="4B5563"/>
                </a:solidFill>
                <a:latin typeface="Poppins"/>
              </a:rPr>
              <a:t>的比较排序。做</a:t>
            </a:r>
            <a:r>
              <a:rPr i="0" sz="1350" b="1">
                <a:solidFill>
                  <a:srgbClr val="4B5563"/>
                </a:solidFill>
                <a:latin typeface="Poppins"/>
              </a:rPr>
              <a:t>升序排序</a:t>
            </a:r>
            <a:r>
              <a:rPr i="0" sz="1350" b="0">
                <a:solidFill>
                  <a:srgbClr val="4B5563"/>
                </a:solidFill>
                <a:latin typeface="Poppins"/>
              </a:rPr>
              <a:t>时，通常先把数组调整成</a:t>
            </a:r>
            <a:r>
              <a:rPr i="0" sz="1350" b="1">
                <a:solidFill>
                  <a:srgbClr val="4B5563"/>
                </a:solidFill>
                <a:latin typeface="Poppins"/>
              </a:rPr>
              <a:t>最大堆</a:t>
            </a:r>
            <a:r>
              <a:rPr i="0" sz="1350" b="0">
                <a:solidFill>
                  <a:srgbClr val="4B5563"/>
                </a:solidFill>
                <a:latin typeface="Poppins"/>
              </a:rPr>
              <a:t>，满足父节点值不小于子节点；再不断把堆顶最大值换到末尾，逐步得到有序序列。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362200"/>
            <a:ext cx="2686347" cy="800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什么是堆排序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3276600"/>
            <a:ext cx="762000" cy="3810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12bc7c3-3320-4436-adaa-0011a77d7a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333500"/>
            <a:ext cx="5029200" cy="5219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342900"/>
            <a:ext cx="4019847" cy="800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堆与数组的对应关系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216943"/>
            <a:ext cx="4953595" cy="51673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350" b="0">
                <a:solidFill>
                  <a:srgbClr val="4B5563"/>
                </a:solidFill>
                <a:latin typeface="Poppins"/>
              </a:defRPr>
            </a:pPr>
            <a:r>
              <a:rPr i="0" sz="1350" b="1">
                <a:solidFill>
                  <a:srgbClr val="4B5563"/>
                </a:solidFill>
                <a:latin typeface="Poppins"/>
              </a:rPr>
              <a:t>堆</a:t>
            </a:r>
            <a:r>
              <a:rPr i="0" sz="1350" b="0">
                <a:solidFill>
                  <a:srgbClr val="4B5563"/>
                </a:solidFill>
                <a:latin typeface="Poppins"/>
              </a:rPr>
              <a:t>可直接用数组原地表示，利用下标公式快速定位父子节点，因此实现简单、访问高效且更节省空间。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10400" y="5450681"/>
            <a:ext cx="4168080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这种映射让交换、下沉和建堆都能在数组上完成，因此</a:t>
            </a:r>
            <a:r>
              <a:rPr i="0" sz="1200" b="1">
                <a:solidFill>
                  <a:srgbClr val="4B5563"/>
                </a:solidFill>
                <a:latin typeface="Poppins"/>
              </a:rPr>
              <a:t>堆排序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高效且节省空间。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0400" y="3545681"/>
            <a:ext cx="3930997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1">
                <a:solidFill>
                  <a:srgbClr val="4B5563"/>
                </a:solidFill>
                <a:latin typeface="Poppins"/>
              </a:rPr>
              <a:t>堆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通常直接放在数组中，无需额外创建链式树节点结构，空间利用率更高。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0400" y="4498181"/>
            <a:ext cx="3467992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若节点下标为 </a:t>
            </a:r>
            <a:r>
              <a:rPr i="0" sz="1200" b="1">
                <a:solidFill>
                  <a:srgbClr val="4B5563"/>
                </a:solidFill>
                <a:latin typeface="Poppins"/>
              </a:rPr>
              <a:t>i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，左孩子是 </a:t>
            </a:r>
            <a:r>
              <a:rPr i="0" sz="1200" b="1">
                <a:solidFill>
                  <a:srgbClr val="4B5563"/>
                </a:solidFill>
                <a:latin typeface="Poppins"/>
              </a:rPr>
              <a:t>2i+1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，右孩子是 </a:t>
            </a:r>
            <a:r>
              <a:rPr i="0" sz="1200" b="1">
                <a:solidFill>
                  <a:srgbClr val="4B5563"/>
                </a:solidFill>
                <a:latin typeface="Poppins"/>
              </a:rPr>
              <a:t>2i+2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，父节点是 </a:t>
            </a:r>
            <a:r>
              <a:rPr i="0" sz="1200" b="1">
                <a:solidFill>
                  <a:srgbClr val="4B5563"/>
                </a:solidFill>
                <a:latin typeface="Poppins"/>
              </a:rPr>
              <a:t>(i-1)/2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 向下取整。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400" y="3059906"/>
            <a:ext cx="908149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0">
                <a:solidFill>
                  <a:srgbClr val="111827"/>
                </a:solidFill>
                <a:latin typeface="Poppins"/>
              </a:defRPr>
            </a:pPr>
            <a:r>
              <a:rPr i="0" sz="1500" b="0">
                <a:solidFill>
                  <a:srgbClr val="111827"/>
                </a:solidFill>
                <a:latin typeface="Poppins"/>
              </a:rPr>
              <a:t>数组原地存储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0400" y="4012406"/>
            <a:ext cx="908149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0">
                <a:solidFill>
                  <a:srgbClr val="111827"/>
                </a:solidFill>
                <a:latin typeface="Poppins"/>
              </a:defRPr>
            </a:pPr>
            <a:r>
              <a:rPr i="0" sz="1500" b="0">
                <a:solidFill>
                  <a:srgbClr val="111827"/>
                </a:solidFill>
                <a:latin typeface="Poppins"/>
              </a:rPr>
              <a:t>父子下标公式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0400" y="4964906"/>
            <a:ext cx="908149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0">
                <a:solidFill>
                  <a:srgbClr val="111827"/>
                </a:solidFill>
                <a:latin typeface="Poppins"/>
              </a:defRPr>
            </a:pPr>
            <a:r>
              <a:rPr i="0" sz="1500" b="0">
                <a:solidFill>
                  <a:srgbClr val="111827"/>
                </a:solidFill>
                <a:latin typeface="Poppins"/>
              </a:rPr>
              <a:t>为何适合排序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059906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57150" dir="5400000" dist="3810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4012406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57150" dir="5400000" dist="3810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4964906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57150" dir="5400000" dist="3810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4" name="Picture 13" descr="9c4452bb-13f2-406f-a157-a156f2995f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095500"/>
            <a:ext cx="228600" cy="228600"/>
          </a:xfrm>
          <a:prstGeom prst="rect">
            <a:avLst/>
          </a:prstGeom>
        </p:spPr>
      </p:pic>
      <p:pic>
        <p:nvPicPr>
          <p:cNvPr id="15" name="Picture 14" descr="f839bfc5-d0b2-4061-af3b-2a17faf1c6c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3177033"/>
            <a:ext cx="228600" cy="228600"/>
          </a:xfrm>
          <a:prstGeom prst="rect">
            <a:avLst/>
          </a:prstGeom>
        </p:spPr>
      </p:pic>
      <p:pic>
        <p:nvPicPr>
          <p:cNvPr id="16" name="Picture 15" descr="deebb9ec-29a0-48f2-a8c8-bd60155591c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4129533"/>
            <a:ext cx="228600" cy="228600"/>
          </a:xfrm>
          <a:prstGeom prst="rect">
            <a:avLst/>
          </a:prstGeom>
        </p:spPr>
      </p:pic>
      <p:pic>
        <p:nvPicPr>
          <p:cNvPr id="17" name="Picture 16" descr="7a198286-8d24-46ab-89e5-83810edb889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5082033"/>
            <a:ext cx="228600" cy="228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010400" y="3402806"/>
            <a:ext cx="457200" cy="1905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10400" y="4355306"/>
            <a:ext cx="457200" cy="1905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10400" y="5307806"/>
            <a:ext cx="457200" cy="1905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43000" y="2419350"/>
            <a:ext cx="42672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2" name="Picture 21" descr="c08b79b9-322e-4816-b752-61a90374501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2419350"/>
            <a:ext cx="42672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a9b1b89-a33f-43ac-ba7b-f02dfd8528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6000"/>
            <a:ext cx="12192000" cy="762000"/>
          </a:xfrm>
          <a:prstGeom prst="rect">
            <a:avLst/>
          </a:prstGeom>
        </p:spPr>
      </p:pic>
      <p:pic>
        <p:nvPicPr>
          <p:cNvPr id="3" name="Picture 2" descr="b1773c75-af93-4909-b67f-65f32a0f48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457200"/>
            <a:ext cx="30480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342900"/>
            <a:ext cx="4019847" cy="800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第一步：建立最大堆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60096" y="3095625"/>
            <a:ext cx="3988891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从最后一个非叶子节点 </a:t>
            </a:r>
            <a:r>
              <a:rPr i="0" sz="1200" b="1">
                <a:solidFill>
                  <a:srgbClr val="4B5563"/>
                </a:solidFill>
                <a:latin typeface="Poppins"/>
              </a:rPr>
              <a:t>1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 开始：比较 </a:t>
            </a:r>
            <a:r>
              <a:rPr i="0" sz="1200" b="1">
                <a:solidFill>
                  <a:srgbClr val="4B5563"/>
                </a:solidFill>
                <a:latin typeface="Poppins"/>
              </a:rPr>
              <a:t>10、5、1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 不变；再调下标 </a:t>
            </a:r>
            <a:r>
              <a:rPr i="0" sz="1200" b="1">
                <a:solidFill>
                  <a:srgbClr val="4B5563"/>
                </a:solidFill>
                <a:latin typeface="Poppins"/>
              </a:rPr>
              <a:t>0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，将 </a:t>
            </a:r>
            <a:r>
              <a:rPr i="0" sz="1200" b="1">
                <a:solidFill>
                  <a:srgbClr val="4B5563"/>
                </a:solidFill>
                <a:latin typeface="Poppins"/>
              </a:rPr>
              <a:t>4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 与较大的子节点交换并继续下沉。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9174" y="4143375"/>
            <a:ext cx="3178075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先得到 </a:t>
            </a:r>
            <a:r>
              <a:rPr i="0" sz="1200" b="1">
                <a:solidFill>
                  <a:srgbClr val="4B5563"/>
                </a:solidFill>
                <a:latin typeface="Poppins"/>
              </a:rPr>
              <a:t>[10, 4, 3, 5, 1]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，继续调整后形成最大堆 </a:t>
            </a:r>
            <a:r>
              <a:rPr i="0" sz="1200" b="1">
                <a:solidFill>
                  <a:srgbClr val="4B5563"/>
                </a:solidFill>
                <a:latin typeface="Poppins"/>
              </a:rPr>
              <a:t>[10, 5, 3, 4, 1]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4548" y="3095625"/>
            <a:ext cx="3126134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对数组 </a:t>
            </a:r>
            <a:r>
              <a:rPr i="0" sz="1200" b="1">
                <a:solidFill>
                  <a:srgbClr val="4B5563"/>
                </a:solidFill>
                <a:latin typeface="Poppins"/>
              </a:rPr>
              <a:t>[4, 10, 3, 5, 1]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 建立最大堆，要求每个父节点都不小于自己的子节点。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638550"/>
            <a:ext cx="593824" cy="457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3600" b="1">
                <a:solidFill>
                  <a:srgbClr val="111827"/>
                </a:solidFill>
                <a:latin typeface="Poppins"/>
              </a:defRPr>
            </a:pPr>
            <a:r>
              <a:rPr i="0" sz="3600" b="1">
                <a:solidFill>
                  <a:srgbClr val="111827"/>
                </a:solidFill>
                <a:latin typeface="Poppin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2590800"/>
            <a:ext cx="578346" cy="457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3600" b="1">
                <a:solidFill>
                  <a:srgbClr val="111827"/>
                </a:solidFill>
                <a:latin typeface="Poppins"/>
              </a:defRPr>
            </a:pPr>
            <a:r>
              <a:rPr i="0" sz="3600" b="1">
                <a:solidFill>
                  <a:srgbClr val="111827"/>
                </a:solidFill>
                <a:latin typeface="Poppin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4548" y="2657475"/>
            <a:ext cx="730299" cy="3143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6667"/>
              </a:lnSpc>
              <a:defRPr i="0" sz="1800" b="1">
                <a:solidFill>
                  <a:srgbClr val="111827"/>
                </a:solidFill>
                <a:latin typeface="Poppins"/>
              </a:defRPr>
            </a:pPr>
            <a:r>
              <a:rPr i="1" sz="1800" b="1">
                <a:solidFill>
                  <a:srgbClr val="111827"/>
                </a:solidFill>
                <a:latin typeface="Poppins"/>
              </a:rPr>
              <a:t>概念引入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0096" y="2657475"/>
            <a:ext cx="730299" cy="3143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6667"/>
              </a:lnSpc>
              <a:defRPr i="0" sz="1800" b="1">
                <a:solidFill>
                  <a:srgbClr val="111827"/>
                </a:solidFill>
                <a:latin typeface="Poppins"/>
              </a:defRPr>
            </a:pPr>
            <a:r>
              <a:rPr i="1" sz="1800" b="1">
                <a:solidFill>
                  <a:srgbClr val="111827"/>
                </a:solidFill>
                <a:latin typeface="Poppins"/>
              </a:rPr>
              <a:t>调整步骤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9174" y="3705225"/>
            <a:ext cx="730299" cy="3143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6667"/>
              </a:lnSpc>
              <a:defRPr i="0" sz="1800" b="1">
                <a:solidFill>
                  <a:srgbClr val="111827"/>
                </a:solidFill>
                <a:latin typeface="Poppins"/>
              </a:defRPr>
            </a:pPr>
            <a:r>
              <a:rPr i="1" sz="1800" b="1">
                <a:solidFill>
                  <a:srgbClr val="111827"/>
                </a:solidFill>
                <a:latin typeface="Poppins"/>
              </a:rPr>
              <a:t>结果收束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590800"/>
            <a:ext cx="489198" cy="457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3600" b="1">
                <a:solidFill>
                  <a:srgbClr val="111827"/>
                </a:solidFill>
                <a:latin typeface="Poppins"/>
              </a:defRPr>
            </a:pPr>
            <a:r>
              <a:rPr i="0" sz="3600" b="1">
                <a:solidFill>
                  <a:srgbClr val="111827"/>
                </a:solidFill>
                <a:latin typeface="Poppins"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1181100"/>
            <a:ext cx="914400" cy="3810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70162cc-c826-42c3-b264-cec9a2a653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6000"/>
            <a:ext cx="12192000" cy="762000"/>
          </a:xfrm>
          <a:prstGeom prst="rect">
            <a:avLst/>
          </a:prstGeom>
        </p:spPr>
      </p:pic>
      <p:pic>
        <p:nvPicPr>
          <p:cNvPr id="3" name="Picture 2" descr="b1773c75-af93-4909-b67f-65f32a0f48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457200"/>
            <a:ext cx="30480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342900"/>
            <a:ext cx="4908946" cy="800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第二步：反复取出最大值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4548" y="3095625"/>
            <a:ext cx="3736925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最大堆建立后，堆顶 </a:t>
            </a:r>
            <a:r>
              <a:rPr i="1" sz="1200" b="0">
                <a:solidFill>
                  <a:srgbClr val="4B5563"/>
                </a:solidFill>
                <a:latin typeface="Poppins"/>
              </a:rPr>
              <a:t>10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 是当前最大值。先把 </a:t>
            </a:r>
            <a:r>
              <a:rPr i="1" sz="1200" b="0">
                <a:solidFill>
                  <a:srgbClr val="4B5563"/>
                </a:solidFill>
                <a:latin typeface="Poppins"/>
              </a:rPr>
              <a:t>10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 与末尾 </a:t>
            </a:r>
            <a:r>
              <a:rPr i="1" sz="1200" b="0">
                <a:solidFill>
                  <a:srgbClr val="4B5563"/>
                </a:solidFill>
                <a:latin typeface="Poppins"/>
              </a:rPr>
              <a:t>1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 交换，数组变为 </a:t>
            </a:r>
            <a:r>
              <a:rPr i="1" sz="1200" b="0">
                <a:solidFill>
                  <a:srgbClr val="4B5563"/>
                </a:solidFill>
                <a:latin typeface="Poppins"/>
              </a:rPr>
              <a:t>[1, 5, 3, 4, 10]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60096" y="3095625"/>
            <a:ext cx="3256061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最后一个元素已归位，只在前 </a:t>
            </a:r>
            <a:r>
              <a:rPr i="1" sz="1200" b="0">
                <a:solidFill>
                  <a:srgbClr val="4B5563"/>
                </a:solidFill>
                <a:latin typeface="Poppins"/>
              </a:rPr>
              <a:t>4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 个元素中继续堆化，调整后得到 </a:t>
            </a:r>
            <a:r>
              <a:rPr i="1" sz="1200" b="0">
                <a:solidFill>
                  <a:srgbClr val="4B5563"/>
                </a:solidFill>
                <a:latin typeface="Poppins"/>
              </a:rPr>
              <a:t>[5, 4, 3, 1, 10]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9174" y="4143375"/>
            <a:ext cx="3194446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继续执行“交换堆顶、缩小范围、重新堆化”，最终得到升序结果 </a:t>
            </a:r>
            <a:r>
              <a:rPr i="1" sz="1200" b="0">
                <a:solidFill>
                  <a:srgbClr val="4B5563"/>
                </a:solidFill>
                <a:latin typeface="Poppins"/>
              </a:rPr>
              <a:t>[1, 3, 4, 5, 10]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60096" y="2657475"/>
            <a:ext cx="1619398" cy="3143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6667"/>
              </a:lnSpc>
              <a:defRPr i="0" sz="1800" b="1">
                <a:solidFill>
                  <a:srgbClr val="111827"/>
                </a:solidFill>
                <a:latin typeface="Poppins"/>
              </a:defRPr>
            </a:pPr>
            <a:r>
              <a:rPr i="0" sz="1800" b="1">
                <a:solidFill>
                  <a:srgbClr val="111827"/>
                </a:solidFill>
                <a:latin typeface="Poppins"/>
              </a:rPr>
              <a:t>缩小范围后重新调整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4548" y="2657475"/>
            <a:ext cx="1441549" cy="3143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6667"/>
              </a:lnSpc>
              <a:defRPr i="0" sz="1800" b="1">
                <a:solidFill>
                  <a:srgbClr val="111827"/>
                </a:solidFill>
                <a:latin typeface="Poppins"/>
              </a:defRPr>
            </a:pPr>
            <a:r>
              <a:rPr i="0" sz="1800" b="1">
                <a:solidFill>
                  <a:srgbClr val="111827"/>
                </a:solidFill>
                <a:latin typeface="Poppins"/>
              </a:rPr>
              <a:t>先交换堆顶与末尾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9174" y="3705225"/>
            <a:ext cx="1441549" cy="3143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6667"/>
              </a:lnSpc>
              <a:defRPr i="0" sz="1800" b="1">
                <a:solidFill>
                  <a:srgbClr val="111827"/>
                </a:solidFill>
                <a:latin typeface="Poppins"/>
              </a:defRPr>
            </a:pPr>
            <a:r>
              <a:rPr i="0" sz="1800" b="1">
                <a:solidFill>
                  <a:srgbClr val="111827"/>
                </a:solidFill>
                <a:latin typeface="Poppins"/>
              </a:rPr>
              <a:t>重复直到全部有序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638550"/>
            <a:ext cx="593824" cy="457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3600" b="1">
                <a:solidFill>
                  <a:srgbClr val="111827"/>
                </a:solidFill>
                <a:latin typeface="Poppins"/>
              </a:defRPr>
            </a:pPr>
            <a:r>
              <a:rPr i="0" sz="3600" b="1">
                <a:solidFill>
                  <a:srgbClr val="111827"/>
                </a:solidFill>
                <a:latin typeface="Poppin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2590800"/>
            <a:ext cx="578346" cy="457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3600" b="1">
                <a:solidFill>
                  <a:srgbClr val="111827"/>
                </a:solidFill>
                <a:latin typeface="Poppins"/>
              </a:defRPr>
            </a:pPr>
            <a:r>
              <a:rPr i="0" sz="3600" b="1">
                <a:solidFill>
                  <a:srgbClr val="111827"/>
                </a:solidFill>
                <a:latin typeface="Poppi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590800"/>
            <a:ext cx="489198" cy="457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3600" b="1">
                <a:solidFill>
                  <a:srgbClr val="111827"/>
                </a:solidFill>
                <a:latin typeface="Poppins"/>
              </a:defRPr>
            </a:pPr>
            <a:r>
              <a:rPr i="0" sz="3600" b="1">
                <a:solidFill>
                  <a:srgbClr val="111827"/>
                </a:solidFill>
                <a:latin typeface="Poppins"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1181100"/>
            <a:ext cx="914400" cy="3810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f28c19-a37f-44f5-a6fd-ccc1f058f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" cy="6858000"/>
          </a:xfrm>
          <a:prstGeom prst="rect">
            <a:avLst/>
          </a:prstGeom>
        </p:spPr>
      </p:pic>
      <p:pic>
        <p:nvPicPr>
          <p:cNvPr id="3" name="Picture 2" descr="89df2d64-a09a-4e25-91fb-ff613fcec1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9753600" y="0"/>
            <a:ext cx="24384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828800" y="1871662"/>
            <a:ext cx="8534400" cy="3800475"/>
          </a:xfrm>
          <a:prstGeom prst="roundRect">
            <a:avLst>
              <a:gd name="adj" fmla="val 2005"/>
            </a:avLst>
          </a:prstGeom>
          <a:solidFill>
            <a:srgbClr val="E5E7EB"/>
          </a:solidFill>
          <a:ln w="9525">
            <a:solidFill>
              <a:srgbClr val="E5E7EB"/>
            </a:solidFill>
          </a:ln>
          <a:effectLst>
            <a:outerShdw blurRad="142875" dir="5400000" dist="9525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f50de101-c112-4ea3-8c89-56855c4967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8325" y="2947987"/>
            <a:ext cx="8515350" cy="542925"/>
          </a:xfrm>
          <a:prstGeom prst="rect">
            <a:avLst/>
          </a:prstGeom>
        </p:spPr>
      </p:pic>
      <p:pic>
        <p:nvPicPr>
          <p:cNvPr id="6" name="Picture 5" descr="f50de101-c112-4ea3-8c89-56855c4967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8325" y="3490912"/>
            <a:ext cx="8515350" cy="542925"/>
          </a:xfrm>
          <a:prstGeom prst="rect">
            <a:avLst/>
          </a:prstGeom>
        </p:spPr>
      </p:pic>
      <p:pic>
        <p:nvPicPr>
          <p:cNvPr id="7" name="Picture 6" descr="f50de101-c112-4ea3-8c89-56855c4967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8325" y="4033837"/>
            <a:ext cx="8515350" cy="542925"/>
          </a:xfrm>
          <a:prstGeom prst="rect">
            <a:avLst/>
          </a:prstGeom>
        </p:spPr>
      </p:pic>
      <p:pic>
        <p:nvPicPr>
          <p:cNvPr id="8" name="Picture 7" descr="f50de101-c112-4ea3-8c89-56855c4967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8325" y="4576762"/>
            <a:ext cx="8515350" cy="542925"/>
          </a:xfrm>
          <a:prstGeom prst="rect">
            <a:avLst/>
          </a:prstGeom>
        </p:spPr>
      </p:pic>
      <p:pic>
        <p:nvPicPr>
          <p:cNvPr id="9" name="Picture 8" descr="2389da7a-a8aa-4828-a4e9-7f3fa677975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8325" y="5119687"/>
            <a:ext cx="8515350" cy="5429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838325" y="1881187"/>
            <a:ext cx="8515350" cy="533400"/>
          </a:xfrm>
          <a:prstGeom prst="roundRect">
            <a:avLst>
              <a:gd name="adj" fmla="val 14285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1" name="Picture 10" descr="f366a142-c106-4dd3-82f3-2a3f438fb1f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8325" y="2414587"/>
            <a:ext cx="8515350" cy="533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95601" y="342900"/>
            <a:ext cx="4019847" cy="800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堆排序完整示例过程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5585" y="6324600"/>
            <a:ext cx="8079878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这个例子展示了堆排序的完整迭代过程：先建大顶堆，再反复把堆顶最大元素交换到末尾，并对剩余部分重新调整。每一轮都会确定一个元素的最终位置。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1475" y="1881187"/>
            <a:ext cx="2851249" cy="5334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228600" rIns="228600" tIns="152400" bIns="15240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FFFFFF"/>
                </a:solidFill>
                <a:latin typeface="Poppins"/>
              </a:defRPr>
            </a:pPr>
            <a:r>
              <a:rPr i="0" sz="1200" b="0">
                <a:solidFill>
                  <a:srgbClr val="FFFFFF"/>
                </a:solidFill>
                <a:latin typeface="Poppins"/>
              </a:rPr>
              <a:t>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38325" y="1881187"/>
            <a:ext cx="2851100" cy="5334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228600" rIns="228600" tIns="152400" bIns="15240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FFFFFF"/>
                </a:solidFill>
                <a:latin typeface="Poppins"/>
              </a:defRPr>
            </a:pPr>
            <a:r>
              <a:rPr i="0" sz="1200" b="0">
                <a:solidFill>
                  <a:srgbClr val="FFFFFF"/>
                </a:solidFill>
                <a:latin typeface="Poppins"/>
              </a:rPr>
              <a:t>阶段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38325" y="2414587"/>
            <a:ext cx="2828925" cy="533400"/>
          </a:xfrm>
          <a:prstGeom prst="roundRect">
            <a:avLst>
              <a:gd name="adj" fmla="val 14285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76775" y="2414587"/>
            <a:ext cx="2828925" cy="533400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15225" y="2414587"/>
            <a:ext cx="2828925" cy="533400"/>
          </a:xfrm>
          <a:prstGeom prst="roundRect">
            <a:avLst>
              <a:gd name="adj" fmla="val 14285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838325" y="2957512"/>
            <a:ext cx="2828925" cy="533400"/>
          </a:xfrm>
          <a:prstGeom prst="roundRect">
            <a:avLst>
              <a:gd name="adj" fmla="val 14285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76775" y="2957512"/>
            <a:ext cx="2828925" cy="533400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15225" y="2957512"/>
            <a:ext cx="2828925" cy="533400"/>
          </a:xfrm>
          <a:prstGeom prst="roundRect">
            <a:avLst>
              <a:gd name="adj" fmla="val 14285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838325" y="3500437"/>
            <a:ext cx="2828925" cy="533400"/>
          </a:xfrm>
          <a:prstGeom prst="roundRect">
            <a:avLst>
              <a:gd name="adj" fmla="val 14285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76775" y="3500437"/>
            <a:ext cx="2828925" cy="533400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15225" y="3500437"/>
            <a:ext cx="2828925" cy="533400"/>
          </a:xfrm>
          <a:prstGeom prst="roundRect">
            <a:avLst>
              <a:gd name="adj" fmla="val 14285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838325" y="4043362"/>
            <a:ext cx="2828925" cy="533400"/>
          </a:xfrm>
          <a:prstGeom prst="roundRect">
            <a:avLst>
              <a:gd name="adj" fmla="val 14285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76775" y="4043362"/>
            <a:ext cx="2828925" cy="533400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515225" y="4043362"/>
            <a:ext cx="2828925" cy="533400"/>
          </a:xfrm>
          <a:prstGeom prst="roundRect">
            <a:avLst>
              <a:gd name="adj" fmla="val 14285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838325" y="4586287"/>
            <a:ext cx="2828925" cy="533400"/>
          </a:xfrm>
          <a:prstGeom prst="roundRect">
            <a:avLst>
              <a:gd name="adj" fmla="val 14285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76775" y="4586287"/>
            <a:ext cx="2828925" cy="533400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515225" y="4586287"/>
            <a:ext cx="2828925" cy="533400"/>
          </a:xfrm>
          <a:prstGeom prst="roundRect">
            <a:avLst>
              <a:gd name="adj" fmla="val 14285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838325" y="5129212"/>
            <a:ext cx="2828925" cy="533400"/>
          </a:xfrm>
          <a:prstGeom prst="roundRect">
            <a:avLst>
              <a:gd name="adj" fmla="val 14285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76775" y="5129212"/>
            <a:ext cx="2828925" cy="533400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515225" y="5129212"/>
            <a:ext cx="2828925" cy="533400"/>
          </a:xfrm>
          <a:prstGeom prst="roundRect">
            <a:avLst>
              <a:gd name="adj" fmla="val 14285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6905" y="4738687"/>
            <a:ext cx="1204466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再次交换并调整剩余堆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6138" y="5281612"/>
            <a:ext cx="1085998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排序完成，升序结果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4330" y="4195762"/>
            <a:ext cx="969615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次大值 5 放到倒数第2位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5521" y="3109912"/>
            <a:ext cx="967382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堆顶是当前最大值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47729" y="2566987"/>
            <a:ext cx="906065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[4, 10, 3, 5, 1]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47729" y="3109912"/>
            <a:ext cx="906065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[10, 5, 3, 4, 1]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47729" y="3652837"/>
            <a:ext cx="906065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[5, 4, 3, 1, 10]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47729" y="4195762"/>
            <a:ext cx="906065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[4, 1, 3, 5, 10]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47729" y="4738687"/>
            <a:ext cx="906065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[3, 1, 4, 5, 10]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47729" y="5281612"/>
            <a:ext cx="906065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[1, 3, 4, 5, 10]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50026" y="3652837"/>
            <a:ext cx="778371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最大值 10 放到末尾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33221" y="2566987"/>
            <a:ext cx="611832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待排序序列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56321" y="3109912"/>
            <a:ext cx="611832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建成大顶堆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8767" y="2033587"/>
            <a:ext cx="493216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FFFFFF"/>
                </a:solidFill>
                <a:latin typeface="Poppins"/>
              </a:defRPr>
            </a:pPr>
            <a:r>
              <a:rPr i="0" sz="1200" b="0">
                <a:solidFill>
                  <a:srgbClr val="FFFFFF"/>
                </a:solidFill>
                <a:latin typeface="Poppins"/>
              </a:rPr>
              <a:t>数组状态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15704" y="2566987"/>
            <a:ext cx="493216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初始数组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28516" y="5281612"/>
            <a:ext cx="267444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第4轮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31641" y="4738687"/>
            <a:ext cx="261342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第3轮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32683" y="4195762"/>
            <a:ext cx="259109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第2轮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52179" y="3652837"/>
            <a:ext cx="220265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第1轮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15000" y="1181100"/>
            <a:ext cx="762000" cy="3810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38200" y="1752600"/>
            <a:ext cx="48768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a779051d-237d-4930-888f-27ec09200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52600"/>
            <a:ext cx="4876800" cy="30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2362200"/>
            <a:ext cx="4002732" cy="800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Python 代码实现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552825"/>
            <a:ext cx="4963715" cy="5048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4B5563"/>
                </a:solidFill>
                <a:latin typeface="Poppins"/>
              </a:defRPr>
            </a:pPr>
            <a:r>
              <a:rPr i="0" sz="1350" b="1">
                <a:solidFill>
                  <a:srgbClr val="4B5563"/>
                </a:solidFill>
                <a:latin typeface="Poppins"/>
              </a:rPr>
              <a:t>heapify</a:t>
            </a:r>
            <a:r>
              <a:rPr i="0" sz="1350" b="0">
                <a:solidFill>
                  <a:srgbClr val="4B5563"/>
                </a:solidFill>
                <a:latin typeface="Poppins"/>
              </a:rPr>
              <a:t>负责维护大顶堆；</a:t>
            </a:r>
            <a:r>
              <a:rPr i="0" sz="1350" b="1">
                <a:solidFill>
                  <a:srgbClr val="4B5563"/>
                </a:solidFill>
                <a:latin typeface="Poppins"/>
              </a:rPr>
              <a:t>heap_sort</a:t>
            </a:r>
            <a:r>
              <a:rPr i="0" sz="1350" b="0">
                <a:solidFill>
                  <a:srgbClr val="4B5563"/>
                </a:solidFill>
                <a:latin typeface="Poppins"/>
              </a:rPr>
              <a:t>先从最后一个非叶子结点开始建堆，再反复把堆顶与末尾交换，并对剩余部分继续调整，最终得到升序结果。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3276600"/>
            <a:ext cx="762000" cy="3810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12bc7c3-3320-4436-adaa-0011a77d7a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333500"/>
            <a:ext cx="5029200" cy="5219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2216943"/>
            <a:ext cx="5011191" cy="51673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350" b="0">
                <a:solidFill>
                  <a:srgbClr val="4B5563"/>
                </a:solidFill>
                <a:latin typeface="Poppins"/>
              </a:defRPr>
            </a:pPr>
            <a:r>
              <a:rPr i="0" sz="1350" b="1">
                <a:solidFill>
                  <a:srgbClr val="4B5563"/>
                </a:solidFill>
                <a:latin typeface="Poppins"/>
              </a:rPr>
              <a:t>堆排序</a:t>
            </a:r>
            <a:r>
              <a:rPr i="0" sz="1350" b="0">
                <a:solidFill>
                  <a:srgbClr val="4B5563"/>
                </a:solidFill>
                <a:latin typeface="Poppins"/>
              </a:rPr>
              <a:t>先用 </a:t>
            </a:r>
            <a:r>
              <a:rPr i="0" sz="1350" b="1">
                <a:solidFill>
                  <a:srgbClr val="4B5563"/>
                </a:solidFill>
                <a:latin typeface="Poppins"/>
              </a:rPr>
              <a:t>O(n)</a:t>
            </a:r>
            <a:r>
              <a:rPr i="0" sz="1350" b="0">
                <a:solidFill>
                  <a:srgbClr val="4B5563"/>
                </a:solidFill>
                <a:latin typeface="Poppins"/>
              </a:rPr>
              <a:t> 建堆，再进行 </a:t>
            </a:r>
            <a:r>
              <a:rPr i="0" sz="1350" b="1">
                <a:solidFill>
                  <a:srgbClr val="4B5563"/>
                </a:solidFill>
                <a:latin typeface="Poppins"/>
              </a:rPr>
              <a:t>n-1</a:t>
            </a:r>
            <a:r>
              <a:rPr i="0" sz="1350" b="0">
                <a:solidFill>
                  <a:srgbClr val="4B5563"/>
                </a:solidFill>
                <a:latin typeface="Poppins"/>
              </a:rPr>
              <a:t> 次取顶与下沉调整，总体时间复杂度为 </a:t>
            </a:r>
            <a:r>
              <a:rPr i="0" sz="1350" b="1">
                <a:solidFill>
                  <a:srgbClr val="4B5563"/>
                </a:solidFill>
                <a:latin typeface="Poppins"/>
              </a:rPr>
              <a:t>O(n log n)</a:t>
            </a:r>
            <a:r>
              <a:rPr i="0" sz="1350" b="0">
                <a:solidFill>
                  <a:srgbClr val="4B5563"/>
                </a:solidFill>
                <a:latin typeface="Poppins"/>
              </a:rPr>
              <a:t>，空间复杂度为 </a:t>
            </a:r>
            <a:r>
              <a:rPr i="0" sz="1350" b="1">
                <a:solidFill>
                  <a:srgbClr val="4B5563"/>
                </a:solidFill>
                <a:latin typeface="Poppins"/>
              </a:rPr>
              <a:t>O(1)</a:t>
            </a:r>
            <a:r>
              <a:rPr i="0" sz="1350" b="0">
                <a:solidFill>
                  <a:srgbClr val="4B5563"/>
                </a:solidFill>
                <a:latin typeface="Poppins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42900"/>
            <a:ext cx="3130897" cy="800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复杂度与注意点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10400" y="5450681"/>
            <a:ext cx="4405163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要明确堆的有效区间，区分已排序区与未排序堆区，并仔细处理父子结点下标计算。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0400" y="4498181"/>
            <a:ext cx="3659237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堆排序只需常数额外空间，因此是 </a:t>
            </a:r>
            <a:r>
              <a:rPr i="0" sz="1200" b="1">
                <a:solidFill>
                  <a:srgbClr val="4B5563"/>
                </a:solidFill>
                <a:latin typeface="Poppins"/>
              </a:rPr>
              <a:t>O(1)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；但它</a:t>
            </a:r>
            <a:r>
              <a:rPr i="0" sz="1200" b="1">
                <a:solidFill>
                  <a:srgbClr val="4B5563"/>
                </a:solidFill>
                <a:latin typeface="Poppins"/>
              </a:rPr>
              <a:t>不稳定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，相同元素次序可能变化。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0400" y="3545681"/>
            <a:ext cx="3618755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建堆是 </a:t>
            </a:r>
            <a:r>
              <a:rPr i="0" sz="1200" b="1">
                <a:solidFill>
                  <a:srgbClr val="4B5563"/>
                </a:solidFill>
                <a:latin typeface="Poppins"/>
              </a:rPr>
              <a:t>O(n)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，每轮交换堆顶并重新调整为 </a:t>
            </a:r>
            <a:r>
              <a:rPr i="0" sz="1200" b="1">
                <a:solidFill>
                  <a:srgbClr val="4B5563"/>
                </a:solidFill>
                <a:latin typeface="Poppins"/>
              </a:rPr>
              <a:t>O(log n)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，整体为 </a:t>
            </a:r>
            <a:r>
              <a:rPr i="0" sz="1200" b="1">
                <a:solidFill>
                  <a:srgbClr val="4B5563"/>
                </a:solidFill>
                <a:latin typeface="Poppins"/>
              </a:rPr>
              <a:t>O(n log n)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400" y="4012406"/>
            <a:ext cx="908149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0">
                <a:solidFill>
                  <a:srgbClr val="111827"/>
                </a:solidFill>
                <a:latin typeface="Poppins"/>
              </a:defRPr>
            </a:pPr>
            <a:r>
              <a:rPr i="0" sz="1500" b="0">
                <a:solidFill>
                  <a:srgbClr val="111827"/>
                </a:solidFill>
                <a:latin typeface="Poppins"/>
              </a:rPr>
              <a:t>空间与稳定性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059906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57150" dir="5400000" dist="3810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4012406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57150" dir="5400000" dist="3810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4964906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57150" dir="5400000" dist="3810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10400" y="3059906"/>
            <a:ext cx="760065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0">
                <a:solidFill>
                  <a:srgbClr val="111827"/>
                </a:solidFill>
                <a:latin typeface="Poppins"/>
              </a:defRPr>
            </a:pPr>
            <a:r>
              <a:rPr i="0" sz="1500" b="0">
                <a:solidFill>
                  <a:srgbClr val="111827"/>
                </a:solidFill>
                <a:latin typeface="Poppins"/>
              </a:rPr>
              <a:t>时间复杂度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400" y="4964906"/>
            <a:ext cx="760065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0">
                <a:solidFill>
                  <a:srgbClr val="111827"/>
                </a:solidFill>
                <a:latin typeface="Poppins"/>
              </a:defRPr>
            </a:pPr>
            <a:r>
              <a:rPr i="0" sz="1500" b="0">
                <a:solidFill>
                  <a:srgbClr val="111827"/>
                </a:solidFill>
                <a:latin typeface="Poppins"/>
              </a:rPr>
              <a:t>实现注意点</a:t>
            </a:r>
          </a:p>
        </p:txBody>
      </p:sp>
      <p:pic>
        <p:nvPicPr>
          <p:cNvPr id="14" name="Picture 13" descr="9c4452bb-13f2-406f-a157-a156f2995f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095500"/>
            <a:ext cx="228600" cy="228600"/>
          </a:xfrm>
          <a:prstGeom prst="rect">
            <a:avLst/>
          </a:prstGeom>
        </p:spPr>
      </p:pic>
      <p:pic>
        <p:nvPicPr>
          <p:cNvPr id="15" name="Picture 14" descr="843105a6-c49e-439d-9184-bc8fb4db87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3177033"/>
            <a:ext cx="228600" cy="228600"/>
          </a:xfrm>
          <a:prstGeom prst="rect">
            <a:avLst/>
          </a:prstGeom>
        </p:spPr>
      </p:pic>
      <p:pic>
        <p:nvPicPr>
          <p:cNvPr id="16" name="Picture 15" descr="4e85900a-d415-4a66-9ec5-e6ebcb0e428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4129533"/>
            <a:ext cx="228600" cy="228600"/>
          </a:xfrm>
          <a:prstGeom prst="rect">
            <a:avLst/>
          </a:prstGeom>
        </p:spPr>
      </p:pic>
      <p:pic>
        <p:nvPicPr>
          <p:cNvPr id="17" name="Picture 16" descr="0a34aa6a-0313-486b-a21b-b4250b0cb1d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5082033"/>
            <a:ext cx="228600" cy="228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010400" y="3402806"/>
            <a:ext cx="457200" cy="1905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10400" y="4355306"/>
            <a:ext cx="457200" cy="1905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10400" y="5307806"/>
            <a:ext cx="457200" cy="1905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43000" y="2419350"/>
            <a:ext cx="42672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2" name="Picture 21" descr="c08b79b9-322e-4816-b752-61a90374501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2419350"/>
            <a:ext cx="4267200" cy="304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