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堆排序的整体内容框架。首先说明堆排序是一种基于堆这种完全二叉树结构的排序方法，核心思想是先建堆，再不断将堆顶元素与末尾交换并调整堆。接着会概括其主要流程，包括建堆、交换和下沉调整。最后简要说明它的时间复杂度通常为O(n log n)，空间复杂度为O(1)，适合对原地排序和稳定性能有要求的场景。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堆排序的核心思路。堆排序通常用于升序排列，因此一般先构建大顶堆，使当前最大元素位于堆顶。由于堆可以用数组直接表示，所以不需要额外复杂的数据结构。排序时，每轮将堆顶与末尾元素交换，再对剩余部分进行下沉调整，逐步得到有序结果。它的过程清晰，适合理解选择最大值并不断归位的排序思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本页介绍堆排序的核心特点。首先说明其建堆阶段时间复杂度为 O(n)，而整体排序复杂度为 O(n log n)，并且平均情况与最坏情况表现一致，因此算法性能较稳定。其次，堆排序的空间复杂度仅为 O(1)，属于原地排序，适合内存受限的环境。需要注意的是，堆排序通常是不稳定排序，因此当业务对相同元素的相对顺序有要求时，需要谨慎选择。总体来看，它更适合重视空间效率的场景。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9812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8c51f7e9-51c1-4b7f-aed4-a1512c2b8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3933825"/>
            <a:ext cx="50292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1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181350"/>
            <a:ext cx="4953595" cy="5048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本次内容介绍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堆排序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的基本概念、执行过程，以及时间复杂度、空间复杂度与适用场景。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90725"/>
            <a:ext cx="1352698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堆排序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8525" y="4171950"/>
            <a:ext cx="965150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Presenter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8925" y="419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8525" y="4438650"/>
            <a:ext cx="91514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2026-06-15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905125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9900" y="4305300"/>
            <a:ext cx="114151" cy="228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62e76e2-e246-4088-86c3-3e9ea258b9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pic>
        <p:nvPicPr>
          <p:cNvPr id="3" name="Picture 2" descr="e5260616-32d9-4f66-91b5-6c616f135e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42900"/>
            <a:ext cx="1352698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堆排序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0096" y="3095625"/>
            <a:ext cx="428654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大顶堆要求父节点的值不小于子节点，且可用数组直接表示，构建与调整较高效。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9174" y="4143375"/>
            <a:ext cx="428654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先建堆，再交换堆顶与末尾元素并缩小范围，随后下沉调整，重复直到完成排序。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4548" y="3095625"/>
            <a:ext cx="369391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堆排序是基于二叉堆的比较排序方法，升序排序通常采用大顶堆实现。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38550"/>
            <a:ext cx="593824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57834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548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基本概念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堆的特点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174" y="370522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执行过程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90800"/>
            <a:ext cx="48919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b55721-1f25-4c2a-b30d-953a3f0e37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"/>
            <a:ext cx="446439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堆排序的复杂度与特点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16943"/>
            <a:ext cx="5013573" cy="51673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建堆为 O(n)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，整体排序为 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O(n log n)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，且最坏与平均情况一致，具备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原地排序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优势，但通常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不稳定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5450681"/>
            <a:ext cx="321974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适合对空间效率要求较高，且不强调排序稳定性的应用场景。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3545681"/>
            <a:ext cx="3006923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建堆时间为 O(n)，完整排序过程为 O(n log n)，性能较稳定。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4498181"/>
            <a:ext cx="291539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空间复杂度为 O(1)，属于原地排序，但通常不具备稳定性。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4012406"/>
            <a:ext cx="90814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空间与稳定性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59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40124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4964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0" y="3059906"/>
            <a:ext cx="760065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时间复杂度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4964906"/>
            <a:ext cx="611832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适用场景</a:t>
            </a:r>
          </a:p>
        </p:txBody>
      </p:sp>
      <p:pic>
        <p:nvPicPr>
          <p:cNvPr id="14" name="Picture 13" descr="c9add272-b307-44cf-adf1-cc2290121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dac7db8d-d430-4809-a759-6cf31953e9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177033"/>
            <a:ext cx="228600" cy="228600"/>
          </a:xfrm>
          <a:prstGeom prst="rect">
            <a:avLst/>
          </a:prstGeom>
        </p:spPr>
      </p:pic>
      <p:pic>
        <p:nvPicPr>
          <p:cNvPr id="16" name="Picture 15" descr="82c62ad0-040e-4809-b72d-2416c8fb08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29533"/>
            <a:ext cx="228600" cy="228600"/>
          </a:xfrm>
          <a:prstGeom prst="rect">
            <a:avLst/>
          </a:prstGeom>
        </p:spPr>
      </p:pic>
      <p:pic>
        <p:nvPicPr>
          <p:cNvPr id="17" name="Picture 16" descr="a61abeb2-c2e3-479b-a480-89fef415e9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082033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402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3553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307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18f21dc3-72be-4dca-8530-2d92d8335cb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